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nShield Documentation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Redesign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1280160" cy="45720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product-first, task-oriented documentation 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3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landing page works against its users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2651760" cy="73152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internal taxonomy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76148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"Security World" and "Option Packs" are Entrust product categories — not the words users arrive with.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00200"/>
            <a:ext cx="2651760" cy="73152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56432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product-first navigation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76148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mentally map their hardware (Solo XC, 5s, Edge) to a software taxonomy before finding anything.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00200"/>
            <a:ext cx="2651760" cy="73152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91072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entry point for new users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276148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"start here" signal. New deployments and nShield 5 migrations have no visible guided path.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option pack acronyms (CIOP, nCOP, nDSOP…) are opaque to new users · No portal-level search · nShield 5 adoption path buried in Application Notes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first principles driving every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132588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time-to-information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22199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measured against one question: does this help the user find what they need faster?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8013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arrive with intent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22199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visitors have a task. Design for task-completion first, exploration second.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114800" cy="132588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3101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Product-first, not taxonomy-first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73075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around the hardware users hold — not around Entrust's internal software layers.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114800" cy="132588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33101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that describe 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373075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tells users what they will do, not what category it belongs to.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3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clear zones, top to bottom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749808"/>
          </a:xfrm>
          <a:prstGeom prst="rect">
            <a:avLst/>
          </a:prstGeom>
          <a:solidFill>
            <a:srgbClr val="3D1A4F"/>
          </a:solidFill>
          <a:ln w="12700">
            <a:solidFill>
              <a:srgbClr val="3D1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5179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8653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Glossary · Videos · Contact support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40864"/>
            <a:ext cx="91440" cy="749808"/>
          </a:xfrm>
          <a:prstGeom prst="rect">
            <a:avLst/>
          </a:prstGeom>
          <a:solidFill>
            <a:srgbClr val="3D1A4F"/>
          </a:solidFill>
          <a:ln w="12700">
            <a:solidFill>
              <a:srgbClr val="3D1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3957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743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headline and introductory sentence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18688"/>
            <a:ext cx="91440" cy="74980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6210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guided journey cards — new setup &amp; nShield 5 adoption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96512"/>
            <a:ext cx="91440" cy="749808"/>
          </a:xfrm>
          <a:prstGeom prst="rect">
            <a:avLst/>
          </a:prstGeom>
          <a:solidFill>
            <a:srgbClr val="5A2D7A"/>
          </a:solidFill>
          <a:ln w="12700">
            <a:solidFill>
              <a:srgbClr val="5A2D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41513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HSM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44988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Product-first cards by model: 5c, 5s, Edge — with generational context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1463040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463040"/>
            <a:ext cx="91440" cy="749808"/>
          </a:xfrm>
          <a:prstGeom prst="rect">
            <a:avLst/>
          </a:prstGeom>
          <a:solidFill>
            <a:srgbClr val="5A2D7A"/>
          </a:solidFill>
          <a:ln w="12700">
            <a:solidFill>
              <a:srgbClr val="5A2D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67528" y="15179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World &amp; APIs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56632" y="18653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software layer — keys, developer APIs, compliance &amp; monitoring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234086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340864"/>
            <a:ext cx="91440" cy="749808"/>
          </a:xfrm>
          <a:prstGeom prst="rect">
            <a:avLst/>
          </a:prstGeom>
          <a:solidFill>
            <a:srgbClr val="723988"/>
          </a:solidFill>
          <a:ln w="12700">
            <a:solidFill>
              <a:srgbClr val="7239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3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67528" y="23957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56632" y="2743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deployment guides, full-width prominent card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3218688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218688"/>
            <a:ext cx="91440" cy="749808"/>
          </a:xfrm>
          <a:prstGeom prst="rect">
            <a:avLst/>
          </a:prstGeom>
          <a:solidFill>
            <a:srgbClr val="723988"/>
          </a:solidFill>
          <a:ln w="12700">
            <a:solidFill>
              <a:srgbClr val="7239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3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528" y="3273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packs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56632" y="36210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packs in plain English — use-case first, acronym secondary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1–4 are above the fold on most screens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3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 — Your HSM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by the hardware you hold, not by software layer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2697480" cy="658368"/>
          </a:xfrm>
          <a:prstGeom prst="rect">
            <a:avLst/>
          </a:prstGeom>
          <a:solidFill>
            <a:srgbClr val="3D1A4F"/>
          </a:solidFill>
          <a:ln w="12700">
            <a:solidFill>
              <a:srgbClr val="3D1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5727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nShield 5c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" y="19019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Network-attached HSM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GENERATION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to Connect XC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" y="2761488"/>
            <a:ext cx="2441448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8529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Install &amp; rack setup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Configure &amp; manage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" y="3657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Upgrade firmware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" y="40599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Remote administration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" y="4462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Troubleshoot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1536192"/>
            <a:ext cx="2697480" cy="658368"/>
          </a:xfrm>
          <a:prstGeom prst="rect">
            <a:avLst/>
          </a:prstGeom>
          <a:solidFill>
            <a:srgbClr val="3D1A4F"/>
          </a:solidFill>
          <a:ln w="12700">
            <a:solidFill>
              <a:srgbClr val="3D1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864" y="15727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nShield 5s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83864" y="19019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HSM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21945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GENERATION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83864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to Solo XC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83864" y="2761488"/>
            <a:ext cx="2441448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28529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Install PCIe card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83864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Modes of operation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83864" y="3657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Upgrade firmware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83864" y="40599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Virtualisation setup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83864" y="4462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Troubleshoot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4496" y="1536192"/>
            <a:ext cx="2697480" cy="658368"/>
          </a:xfrm>
          <a:prstGeom prst="rect">
            <a:avLst/>
          </a:prstGeom>
          <a:solidFill>
            <a:srgbClr val="3D1A4F"/>
          </a:solidFill>
          <a:ln w="12700">
            <a:solidFill>
              <a:srgbClr val="3D1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15727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nShield Edge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82512" y="19019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portable HSM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21945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82512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· offline CA · dev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82512" y="2761488"/>
            <a:ext cx="2441448" cy="18288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28529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Set up the Edge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82512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Modes of operation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82512" y="3657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Windows compatibility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82512" y="40599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Troubleshoot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solidFill>
            <a:srgbClr val="E8D8F0"/>
          </a:solidFill>
          <a:ln w="12700">
            <a:solidFill>
              <a:srgbClr val="E8D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773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2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models (Connect XC, Connect+, Solo XC, Solo+) are accessible via a version archive link beneath the hardware section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3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— the six biggest shifts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solidFill>
            <a:srgbClr val="3D1A4F"/>
          </a:solidFill>
          <a:ln w="12700">
            <a:solidFill>
              <a:srgbClr val="3D1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75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Security World / Option Packs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07408" y="199339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75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hardware model (5c, 5s, Edge)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3931920" cy="457200"/>
          </a:xfrm>
          <a:prstGeom prst="rect">
            <a:avLst/>
          </a:prstGeom>
          <a:solidFill>
            <a:srgbClr val="F4EEF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new-user entry 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7408" y="2487168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414016"/>
            <a:ext cx="3931920" cy="457200"/>
          </a:xfrm>
          <a:prstGeom prst="rect">
            <a:avLst/>
          </a:prstGeom>
          <a:solidFill>
            <a:srgbClr val="F4EEF8"/>
          </a:solidFill>
          <a:ln w="6350">
            <a:solidFill>
              <a:srgbClr val="E8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“Start here” journeys above the fold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62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nShield 5 adoption buried in App Notes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07408" y="2980944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962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nShield 5 adoption card at top of page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3931920" cy="457200"/>
          </a:xfrm>
          <a:prstGeom prst="rect">
            <a:avLst/>
          </a:prstGeom>
          <a:solidFill>
            <a:srgbClr val="F4EEF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packs listed as acronyms (CIOP, nDSOP…)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07408" y="347472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3931920" cy="457200"/>
          </a:xfrm>
          <a:prstGeom prst="rect">
            <a:avLst/>
          </a:prstGeom>
          <a:solidFill>
            <a:srgbClr val="F4EEF8"/>
          </a:solidFill>
          <a:ln w="6350">
            <a:solidFill>
              <a:srgbClr val="E8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packs described by use case, acronym secondary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guides one small link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3968496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389534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guides as a dedicated named section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3931920" cy="457200"/>
          </a:xfrm>
          <a:prstGeom prst="rect">
            <a:avLst/>
          </a:prstGeom>
          <a:solidFill>
            <a:srgbClr val="F4EEF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443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models mixed with current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07408" y="446227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4389120"/>
            <a:ext cx="3931920" cy="457200"/>
          </a:xfrm>
          <a:prstGeom prst="rect">
            <a:avLst/>
          </a:prstGeom>
          <a:solidFill>
            <a:srgbClr val="F4EEF8"/>
          </a:solidFill>
          <a:ln w="6350">
            <a:solidFill>
              <a:srgbClr val="E8D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443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models archived — clean separate note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 — no build system changes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14800" cy="105156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54864" cy="1051560"/>
          </a:xfrm>
          <a:prstGeom prst="rect">
            <a:avLst/>
          </a:prstGeom>
          <a:solidFill>
            <a:srgbClr val="9B5CB5"/>
          </a:solidFill>
          <a:ln w="12700">
            <a:solidFill>
              <a:srgbClr val="9B5C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00253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landing page is already a plain HTML file outside the Antora pipeline. The redesign replaces it directly — no Antora configuration changes needed.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600200"/>
            <a:ext cx="4114800" cy="105156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600200"/>
            <a:ext cx="54864" cy="1051560"/>
          </a:xfrm>
          <a:prstGeom prst="rect">
            <a:avLst/>
          </a:prstGeom>
          <a:solidFill>
            <a:srgbClr val="9B5CB5"/>
          </a:solidFill>
          <a:ln w="12700">
            <a:solidFill>
              <a:srgbClr val="9B5C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Entrust brand palette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200253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exact Entrust plum (#723988) derived to a consistent 6-stop scale. All colours are CSS custom properties — easy to update in one place.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4114800" cy="105156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70632"/>
            <a:ext cx="54864" cy="1051560"/>
          </a:xfrm>
          <a:prstGeom prst="rect">
            <a:avLst/>
          </a:prstGeom>
          <a:solidFill>
            <a:srgbClr val="9B5CB5"/>
          </a:solidFill>
          <a:ln w="12700">
            <a:solidFill>
              <a:srgbClr val="9B5C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62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Root-relative links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17296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78 links use root-relative paths matching the existing Antora URL structure. No redirects needed — links resolve immediately on deploy.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770632"/>
            <a:ext cx="4114800" cy="105156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770632"/>
            <a:ext cx="54864" cy="1051560"/>
          </a:xfrm>
          <a:prstGeom prst="rect">
            <a:avLst/>
          </a:prstGeom>
          <a:solidFill>
            <a:srgbClr val="9B5CB5"/>
          </a:solidFill>
          <a:ln w="12700">
            <a:solidFill>
              <a:srgbClr val="9B5C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862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192" y="3172968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icon fonts, no JS frameworks, no CDN dependencies. All SVG icons are inline. The page works fully offline and loads instantly.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4114800" cy="105156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41064"/>
            <a:ext cx="54864" cy="1051560"/>
          </a:xfrm>
          <a:prstGeom prst="rect">
            <a:avLst/>
          </a:prstGeom>
          <a:solidFill>
            <a:srgbClr val="9B5CB5"/>
          </a:solidFill>
          <a:ln w="12700">
            <a:solidFill>
              <a:srgbClr val="9B5C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0325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434340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Three-column model grids collapse to single column on mobile. Nav links adapt. Footer reflows. Tested down to 375px viewport.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941064"/>
            <a:ext cx="4114800" cy="1051560"/>
          </a:xfrm>
          <a:prstGeom prst="rect">
            <a:avLst/>
          </a:prstGeom>
          <a:solidFill>
            <a:srgbClr val="4A2060"/>
          </a:solidFill>
          <a:ln w="6350">
            <a:solidFill>
              <a:srgbClr val="5A3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941064"/>
            <a:ext cx="54864" cy="1051560"/>
          </a:xfrm>
          <a:prstGeom prst="rect">
            <a:avLst/>
          </a:prstGeom>
          <a:solidFill>
            <a:srgbClr val="9B5CB5"/>
          </a:solidFill>
          <a:ln w="12700">
            <a:solidFill>
              <a:srgbClr val="9B5C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40325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Antora-native path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5192" y="434340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ready, the HTML can be converted to an AsciiDoc page with a custom Handlebars layout — the HTML prototype becomes the specification.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B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 and iterate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368296"/>
            <a:ext cx="310896" cy="310896"/>
          </a:xfrm>
          <a:prstGeom prst="ellipse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current index.html in the repository with the new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43784"/>
            <a:ext cx="310896" cy="310896"/>
          </a:xfrm>
          <a:prstGeom prst="ellipse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80720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 staging — content, links, and version archive references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19272"/>
            <a:ext cx="310896" cy="310896"/>
          </a:xfrm>
          <a:prstGeom prst="ellipse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328269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model card task links once correct chapter anchors are confirmed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310896" cy="310896"/>
          </a:xfrm>
          <a:prstGeom prst="ellipse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75818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the docs team for content review and sign-off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70248"/>
            <a:ext cx="310896" cy="310896"/>
          </a:xfrm>
          <a:prstGeom prst="ellipse">
            <a:avLst/>
          </a:prstGeom>
          <a:solidFill>
            <a:srgbClr val="C8392B"/>
          </a:solidFill>
          <a:ln w="12700">
            <a:solidFill>
              <a:srgbClr val="C8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423367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user behaviour and iterate on card content in subsequent sprints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nShield Documentation — Landing Page Redesign</dc:title>
  <dc:subject>PptxGenJS Presentation</dc:subject>
  <dc:creator>PptxGenJS</dc:creator>
  <cp:lastModifiedBy>PptxGenJS</cp:lastModifiedBy>
  <cp:revision>1</cp:revision>
  <dcterms:created xsi:type="dcterms:W3CDTF">2026-05-20T00:51:50Z</dcterms:created>
  <dcterms:modified xsi:type="dcterms:W3CDTF">2026-05-20T00:51:50Z</dcterms:modified>
</cp:coreProperties>
</file>